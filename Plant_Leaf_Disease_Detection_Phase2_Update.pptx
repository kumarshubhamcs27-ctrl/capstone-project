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IN"/>
              <a:t>PlantVillage validation metrics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>
              <a:srgbClr val="4A7790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5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SmallCNN</c:v>
                </c:pt>
                <c:pt idx="1">
                  <c:v>ResNet18</c:v>
                </c:pt>
                <c:pt idx="2">
                  <c:v>EfficientNet-B0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0.96011599999999997</c:v>
                </c:pt>
                <c:pt idx="1">
                  <c:v>0.96149099999999998</c:v>
                </c:pt>
                <c:pt idx="2">
                  <c:v>0.99541599999999997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19-41F5-BE59-DDB089D5DF5F}"/>
            </c:ext>
          </c:extLst>
        </c:ser>
        <c:ser>
          <c:idx val="1"/>
          <c:order val="1"/>
          <c:tx>
            <c:v>Macro precision</c:v>
          </c:tx>
          <c:spPr>
            <a:solidFill>
              <a:srgbClr val="D58C36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5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Data'!$C$2:$C$4</c:f>
              <c:strCache>
                <c:ptCount val="3"/>
                <c:pt idx="0">
                  <c:v>SmallCNN</c:v>
                </c:pt>
                <c:pt idx="1">
                  <c:v>ResNet18</c:v>
                </c:pt>
                <c:pt idx="2">
                  <c:v>EfficientNet-B0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0.94285200000000002</c:v>
                </c:pt>
                <c:pt idx="1">
                  <c:v>0.96061399999999997</c:v>
                </c:pt>
                <c:pt idx="2">
                  <c:v>0.99314199999999997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19-41F5-BE59-DDB089D5DF5F}"/>
            </c:ext>
          </c:extLst>
        </c:ser>
        <c:ser>
          <c:idx val="2"/>
          <c:order val="2"/>
          <c:tx>
            <c:v>Macro recall</c:v>
          </c:tx>
          <c:spPr>
            <a:solidFill>
              <a:srgbClr val="83A96A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5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Data'!$E$2:$E$4</c:f>
              <c:strCache>
                <c:ptCount val="3"/>
                <c:pt idx="0">
                  <c:v>SmallCNN</c:v>
                </c:pt>
                <c:pt idx="1">
                  <c:v>ResNet18</c:v>
                </c:pt>
                <c:pt idx="2">
                  <c:v>EfficientNet-B0</c:v>
                </c:pt>
              </c:strCache>
            </c:strRef>
          </c:cat>
          <c:val>
            <c:numRef>
              <c:f>'Chart Data'!$F$2:$F$4</c:f>
              <c:numCache>
                <c:formatCode>0%</c:formatCode>
                <c:ptCount val="3"/>
                <c:pt idx="0">
                  <c:v>0.95398300000000003</c:v>
                </c:pt>
                <c:pt idx="1">
                  <c:v>0.95608199999999999</c:v>
                </c:pt>
                <c:pt idx="2">
                  <c:v>0.994564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A19-41F5-BE59-DDB089D5DF5F}"/>
            </c:ext>
          </c:extLst>
        </c:ser>
        <c:ser>
          <c:idx val="3"/>
          <c:order val="3"/>
          <c:tx>
            <c:v>Macro-F1</c:v>
          </c:tx>
          <c:spPr>
            <a:solidFill>
              <a:srgbClr val="236B4E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5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Data'!$G$2:$G$4</c:f>
              <c:strCache>
                <c:ptCount val="3"/>
                <c:pt idx="0">
                  <c:v>SmallCNN</c:v>
                </c:pt>
                <c:pt idx="1">
                  <c:v>ResNet18</c:v>
                </c:pt>
                <c:pt idx="2">
                  <c:v>EfficientNet-B0</c:v>
                </c:pt>
              </c:strCache>
            </c:strRef>
          </c:cat>
          <c:val>
            <c:numRef>
              <c:f>'Chart Data'!$H$2:$H$4</c:f>
              <c:numCache>
                <c:formatCode>0%</c:formatCode>
                <c:ptCount val="3"/>
                <c:pt idx="0">
                  <c:v>0.944411</c:v>
                </c:pt>
                <c:pt idx="1">
                  <c:v>0.9546</c:v>
                </c:pt>
                <c:pt idx="2">
                  <c:v>0.99368900000000004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A19-41F5-BE59-DDB089D5DF5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.9"/>
        </c:scaling>
        <c:delete val="0"/>
        <c:axPos val="l"/>
        <c:majorGridlines>
          <c:spPr>
            <a:ln w="9525">
              <a:solidFill>
                <a:srgbClr val="D7E0D9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0.02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</c:legend>
    <c:plotVisOnly val="1"/>
    <c:dispBlanksAs val="zero"/>
    <c:showDLblsOverMax val="1"/>
  </c:chart>
  <c:spPr>
    <a:solidFill>
      <a:srgbClr val="FFFFFF"/>
    </a:solidFill>
    <a:ln w="9525">
      <a:solidFill>
        <a:srgbClr val="D7E0D9"/>
      </a:solidFill>
      <a:prstDash val="solid"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FA567D5-A010-4D81-B20B-17A2FA1B7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0FC3DCB-51C0-4165-9B1A-F028A7BF4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308C7D3-484D-4CA4-BC60-8A03D324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722CDA0-897D-4C3D-B7FD-7B862DEFB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76B9DC3-E0BC-4062-B8C7-9390A742E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4BA3288-F0B2-4850-BE3E-CDA4EB23C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87D3C45-89A1-4D6C-9559-E832850A0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1C2AF8DB-C908-4AD2-A3BA-F1A6E92AA0C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5BAC85C-DFB8-4C0E-8A83-1E6A41521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7CF9BA6-3ED2-4A41-96DB-8E6858FB4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25A66FD-8B30-47FE-9820-A9D02F6C2B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36B4E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2CAD47-2B96-497E-BF57-84E435871EA3}"/>
              </a:ext>
            </a:extLst>
          </p:cNvPr>
          <p:cNvSpPr>
            <a:spLocks noGrp="1"/>
          </p:cNvSpPr>
          <p:nvPr/>
        </p:nvSpPr>
        <p:spPr>
          <a:xfrm>
            <a:off x="7524750" y="133350"/>
            <a:ext cx="4667250" cy="6724650"/>
          </a:xfrm>
          <a:prstGeom prst="rect">
            <a:avLst/>
          </a:prstGeom>
          <a:solidFill>
            <a:srgbClr val="E8F2E9"/>
          </a:solidFill>
          <a:ln w="0">
            <a:noFill/>
            <a:prstDash val="solid"/>
          </a:ln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F186FB-C0CD-4822-A098-2E06D00F24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29600" y="1219200"/>
            <a:ext cx="3143250" cy="31432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844A8BF-93B9-4BD2-9D11-9DCAAF831D68}"/>
              </a:ext>
            </a:extLst>
          </p:cNvPr>
          <p:cNvSpPr>
            <a:spLocks noGrp="1"/>
          </p:cNvSpPr>
          <p:nvPr/>
        </p:nvSpPr>
        <p:spPr>
          <a:xfrm>
            <a:off x="685800" y="657225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05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CAPSTONE · PHASE II UPDATE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1B8532-521B-44E6-AA93-3F27CD219C49}"/>
              </a:ext>
            </a:extLst>
          </p:cNvPr>
          <p:cNvSpPr>
            <a:spLocks noGrp="1"/>
          </p:cNvSpPr>
          <p:nvPr/>
        </p:nvSpPr>
        <p:spPr>
          <a:xfrm>
            <a:off x="685800" y="1285875"/>
            <a:ext cx="6477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525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525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312B"/>
                </a:solidFill>
                <a:latin typeface="Arial"/>
                <a:ea typeface="Arial"/>
                <a:cs typeface="Arial"/>
              </a:rPr>
              <a:t>Plant leaf disease</a:t>
            </a:r>
          </a:p>
          <a:p>
            <a:pPr algn="l">
              <a:defRPr sz="3525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7312B"/>
                </a:solidFill>
                <a:latin typeface="Arial"/>
                <a:ea typeface="Arial"/>
                <a:cs typeface="Arial"/>
              </a:rPr>
              <a:t>detection using CNNs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3DD3F3-5B15-462A-A658-C166D7A50E9F}"/>
              </a:ext>
            </a:extLst>
          </p:cNvPr>
          <p:cNvSpPr>
            <a:spLocks noGrp="1"/>
          </p:cNvSpPr>
          <p:nvPr/>
        </p:nvSpPr>
        <p:spPr>
          <a:xfrm>
            <a:off x="685800" y="3086100"/>
            <a:ext cx="6096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A fair PlantVillage comparison of a trained-from-scratch baseline and two ImageNet-pretrained models.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3AB0B01-CDCE-4A88-9DFC-31200B2C4A6A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1285875" cy="323850"/>
          </a:xfrm>
          <a:prstGeom prst="roundRect">
            <a:avLst>
              <a:gd name="adj" fmla="val 23529"/>
            </a:avLst>
          </a:prstGeom>
          <a:solidFill>
            <a:srgbClr val="E8F2E9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005F7B-4E63-4993-B7ED-25FE390FEBA3}"/>
              </a:ext>
            </a:extLst>
          </p:cNvPr>
          <p:cNvSpPr>
            <a:spLocks noGrp="1"/>
          </p:cNvSpPr>
          <p:nvPr/>
        </p:nvSpPr>
        <p:spPr>
          <a:xfrm>
            <a:off x="781050" y="4305300"/>
            <a:ext cx="1095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7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38 classes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AF8BCA-A761-4B9F-B9FA-BBE64566E918}"/>
              </a:ext>
            </a:extLst>
          </p:cNvPr>
          <p:cNvSpPr>
            <a:spLocks noGrp="1"/>
          </p:cNvSpPr>
          <p:nvPr/>
        </p:nvSpPr>
        <p:spPr>
          <a:xfrm>
            <a:off x="2105025" y="4286250"/>
            <a:ext cx="1504950" cy="323850"/>
          </a:xfrm>
          <a:prstGeom prst="roundRect">
            <a:avLst>
              <a:gd name="adj" fmla="val 23529"/>
            </a:avLst>
          </a:prstGeom>
          <a:solidFill>
            <a:srgbClr val="E8F2E9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4CF795-D606-4835-982A-D64012779058}"/>
              </a:ext>
            </a:extLst>
          </p:cNvPr>
          <p:cNvSpPr>
            <a:spLocks noGrp="1"/>
          </p:cNvSpPr>
          <p:nvPr/>
        </p:nvSpPr>
        <p:spPr>
          <a:xfrm>
            <a:off x="2200275" y="4305300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7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14 crop types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BAC58E2-9B8B-480A-8C2C-5418EFF4640F}"/>
              </a:ext>
            </a:extLst>
          </p:cNvPr>
          <p:cNvSpPr>
            <a:spLocks noGrp="1"/>
          </p:cNvSpPr>
          <p:nvPr/>
        </p:nvSpPr>
        <p:spPr>
          <a:xfrm>
            <a:off x="3743325" y="4286250"/>
            <a:ext cx="2047875" cy="323850"/>
          </a:xfrm>
          <a:prstGeom prst="roundRect">
            <a:avLst>
              <a:gd name="adj" fmla="val 23529"/>
            </a:avLst>
          </a:prstGeom>
          <a:solidFill>
            <a:srgbClr val="E8F2E9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A63A52-CDE8-4161-9CE7-779FE3E57A16}"/>
              </a:ext>
            </a:extLst>
          </p:cNvPr>
          <p:cNvSpPr>
            <a:spLocks noGrp="1"/>
          </p:cNvSpPr>
          <p:nvPr/>
        </p:nvSpPr>
        <p:spPr>
          <a:xfrm>
            <a:off x="3838575" y="4305300"/>
            <a:ext cx="1857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7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10,709 test images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17D5FE-2655-4868-95AF-956C7F9CAF6D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619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7312B"/>
                </a:solidFill>
                <a:latin typeface="Arial"/>
                <a:ea typeface="Arial"/>
                <a:cs typeface="Arial"/>
              </a:rPr>
              <a:t>Prepared by Shubham Kumar · Ujjwal Pratap Singh ·</a:t>
            </a:r>
            <a:r>
              <a:rPr lang="en-US" sz="1200" b="1" dirty="0">
                <a:solidFill>
                  <a:srgbClr val="17312B"/>
                </a:solidFill>
                <a:latin typeface="Arial"/>
                <a:ea typeface="Arial"/>
                <a:cs typeface="Arial"/>
              </a:rPr>
              <a:t>Shubham Kumar -</a:t>
            </a:r>
            <a:r>
              <a:rPr sz="1200" b="1" dirty="0">
                <a:solidFill>
                  <a:srgbClr val="17312B"/>
                </a:solidFill>
                <a:latin typeface="Arial"/>
                <a:ea typeface="Arial"/>
                <a:cs typeface="Arial"/>
              </a:rPr>
              <a:t> Vivek Kumar Prajapati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A4D864-07B4-449C-B6A1-675F03A8E1F4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Guide: Dr. Harendra Singh  ·  IILM University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C5B237-59C2-4F1B-BFDC-26E35C88A43E}"/>
              </a:ext>
            </a:extLst>
          </p:cNvPr>
          <p:cNvSpPr>
            <a:spLocks noGrp="1"/>
          </p:cNvSpPr>
          <p:nvPr/>
        </p:nvSpPr>
        <p:spPr>
          <a:xfrm>
            <a:off x="8229600" y="4524375"/>
            <a:ext cx="3143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0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Apple scab example · PlantVillage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C699F6-5C31-4F9A-9C14-4EC63E36A0B4}"/>
              </a:ext>
            </a:extLst>
          </p:cNvPr>
          <p:cNvSpPr>
            <a:spLocks noGrp="1"/>
          </p:cNvSpPr>
          <p:nvPr/>
        </p:nvSpPr>
        <p:spPr>
          <a:xfrm>
            <a:off x="8229600" y="5010150"/>
            <a:ext cx="3143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42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42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PlantVillage-only results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D5C843-A226-4F7E-AEE1-D9129F25274D}"/>
              </a:ext>
            </a:extLst>
          </p:cNvPr>
          <p:cNvSpPr>
            <a:spLocks noGrp="1"/>
          </p:cNvSpPr>
          <p:nvPr/>
        </p:nvSpPr>
        <p:spPr>
          <a:xfrm>
            <a:off x="8096250" y="5362575"/>
            <a:ext cx="342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These scores describe this dataset; they do not establish field performance.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34E92C-0158-4B94-B859-662A37B7E56A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00" b="1">
                <a:solidFill>
                  <a:srgbClr val="73817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1">
                <a:solidFill>
                  <a:srgbClr val="7381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81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01905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4B80C2E6-176E-4654-8C53-5689798519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36B4E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35E0C5-BA4D-4699-BC6E-114FCB236EB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7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RESEARCH CONTEXT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F2F8A6-AF94-4DF3-9BE5-A7F260195D39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475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75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312B"/>
                </a:solidFill>
                <a:latin typeface="Arial"/>
                <a:ea typeface="Arial"/>
                <a:cs typeface="Arial"/>
              </a:rPr>
              <a:t>What prior work tells us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5A1DC1B-7ED5-46C7-ADAA-F28B338BF29F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72800" cy="0"/>
          </a:xfrm>
          <a:prstGeom prst="line">
            <a:avLst/>
          </a:prstGeom>
          <a:noFill/>
          <a:ln w="9525">
            <a:solidFill>
              <a:srgbClr val="D7E0D9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17B6E3-D96E-4E9A-9428-BE90C0F0DB6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825" b="1">
                <a:solidFill>
                  <a:srgbClr val="7381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25" b="1">
                <a:solidFill>
                  <a:srgbClr val="73817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3817B"/>
                </a:solidFill>
                <a:latin typeface="Arial"/>
                <a:ea typeface="Arial"/>
                <a:cs typeface="Arial"/>
              </a:rPr>
              <a:t>PLANT LEAF DISEASE DETECTION  ·  PHASE II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DB49BD-5759-4582-864C-E2EF2A48097A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00" b="1">
                <a:solidFill>
                  <a:srgbClr val="73817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1">
                <a:solidFill>
                  <a:srgbClr val="7381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81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3CC34B-7836-4ACF-9784-4B45BEFB225E}"/>
              </a:ext>
            </a:extLst>
          </p:cNvPr>
          <p:cNvSpPr>
            <a:spLocks noGrp="1"/>
          </p:cNvSpPr>
          <p:nvPr/>
        </p:nvSpPr>
        <p:spPr>
          <a:xfrm>
            <a:off x="609600" y="1647825"/>
            <a:ext cx="3286125" cy="203835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D7E0D9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348BEF-2864-4CEC-8256-0E49A080C665}"/>
              </a:ext>
            </a:extLst>
          </p:cNvPr>
          <p:cNvSpPr>
            <a:spLocks noGrp="1"/>
          </p:cNvSpPr>
          <p:nvPr/>
        </p:nvSpPr>
        <p:spPr>
          <a:xfrm>
            <a:off x="609600" y="1647825"/>
            <a:ext cx="66675" cy="2038350"/>
          </a:xfrm>
          <a:prstGeom prst="rect">
            <a:avLst/>
          </a:prstGeom>
          <a:solidFill>
            <a:srgbClr val="4A7790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074CC0-2CFE-428B-8005-C26702220F12}"/>
              </a:ext>
            </a:extLst>
          </p:cNvPr>
          <p:cNvSpPr>
            <a:spLocks noGrp="1"/>
          </p:cNvSpPr>
          <p:nvPr/>
        </p:nvSpPr>
        <p:spPr>
          <a:xfrm>
            <a:off x="838200" y="1790700"/>
            <a:ext cx="28289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425" b="1">
                <a:solidFill>
                  <a:srgbClr val="4A779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4A779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A7790"/>
                </a:solidFill>
                <a:latin typeface="Arial"/>
                <a:ea typeface="Arial"/>
                <a:cs typeface="Arial"/>
              </a:rPr>
              <a:t>Prior research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939309-6161-4B81-A1B2-BAC8E7A0589C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2828925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B"/>
                </a:solidFill>
                <a:latin typeface="Arial"/>
                <a:ea typeface="Arial"/>
                <a:cs typeface="Arial"/>
              </a:rPr>
              <a:t>The Phase I evidence register summarizes 21 papers on image-based plant disease recognition.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22E8BD9-08E5-4C1B-8952-4F88C9C900A1}"/>
              </a:ext>
            </a:extLst>
          </p:cNvPr>
          <p:cNvSpPr>
            <a:spLocks noGrp="1"/>
          </p:cNvSpPr>
          <p:nvPr/>
        </p:nvSpPr>
        <p:spPr>
          <a:xfrm>
            <a:off x="4448175" y="1647825"/>
            <a:ext cx="3286125" cy="203835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D7E0D9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8AA61F-E5C8-467B-9290-50302B01D57C}"/>
              </a:ext>
            </a:extLst>
          </p:cNvPr>
          <p:cNvSpPr>
            <a:spLocks noGrp="1"/>
          </p:cNvSpPr>
          <p:nvPr/>
        </p:nvSpPr>
        <p:spPr>
          <a:xfrm>
            <a:off x="4448175" y="1647825"/>
            <a:ext cx="66675" cy="2038350"/>
          </a:xfrm>
          <a:prstGeom prst="rect">
            <a:avLst/>
          </a:prstGeom>
          <a:solidFill>
            <a:srgbClr val="D58C36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098C03-3362-454E-8D42-9B174F6DDCA9}"/>
              </a:ext>
            </a:extLst>
          </p:cNvPr>
          <p:cNvSpPr>
            <a:spLocks noGrp="1"/>
          </p:cNvSpPr>
          <p:nvPr/>
        </p:nvSpPr>
        <p:spPr>
          <a:xfrm>
            <a:off x="4676775" y="1790700"/>
            <a:ext cx="28289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425" b="1">
                <a:solidFill>
                  <a:srgbClr val="D58C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D58C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58C36"/>
                </a:solidFill>
                <a:latin typeface="Arial"/>
                <a:ea typeface="Arial"/>
                <a:cs typeface="Arial"/>
              </a:rPr>
              <a:t>A published reference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6646-D582-4A22-B895-2EE538D131FD}"/>
              </a:ext>
            </a:extLst>
          </p:cNvPr>
          <p:cNvSpPr>
            <a:spLocks noGrp="1"/>
          </p:cNvSpPr>
          <p:nvPr/>
        </p:nvSpPr>
        <p:spPr>
          <a:xfrm>
            <a:off x="4676775" y="2133600"/>
            <a:ext cx="2828925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B"/>
                </a:solidFill>
                <a:latin typeface="Arial"/>
                <a:ea typeface="Arial"/>
                <a:cs typeface="Arial"/>
              </a:rPr>
              <a:t>Mohanty et al. (2016) reported 99.35% accuracy on PlantVillage using a different split and protocol.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75BCD13-ED70-4A7B-AFAE-BE14BD9CDDC6}"/>
              </a:ext>
            </a:extLst>
          </p:cNvPr>
          <p:cNvSpPr>
            <a:spLocks noGrp="1"/>
          </p:cNvSpPr>
          <p:nvPr/>
        </p:nvSpPr>
        <p:spPr>
          <a:xfrm>
            <a:off x="8286750" y="1647825"/>
            <a:ext cx="3286125" cy="203835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D7E0D9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63C2FE-7FEE-4615-A979-B752FD8BD240}"/>
              </a:ext>
            </a:extLst>
          </p:cNvPr>
          <p:cNvSpPr>
            <a:spLocks noGrp="1"/>
          </p:cNvSpPr>
          <p:nvPr/>
        </p:nvSpPr>
        <p:spPr>
          <a:xfrm>
            <a:off x="8286750" y="1647825"/>
            <a:ext cx="66675" cy="2038350"/>
          </a:xfrm>
          <a:prstGeom prst="rect">
            <a:avLst/>
          </a:prstGeom>
          <a:solidFill>
            <a:srgbClr val="236B4E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923251-FDE3-4FE4-AA32-B67D4519D881}"/>
              </a:ext>
            </a:extLst>
          </p:cNvPr>
          <p:cNvSpPr>
            <a:spLocks noGrp="1"/>
          </p:cNvSpPr>
          <p:nvPr/>
        </p:nvSpPr>
        <p:spPr>
          <a:xfrm>
            <a:off x="8515350" y="1790700"/>
            <a:ext cx="28289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42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Our comparison question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23ED0E-47AA-4355-8EBD-2C10756CB595}"/>
              </a:ext>
            </a:extLst>
          </p:cNvPr>
          <p:cNvSpPr>
            <a:spLocks noGrp="1"/>
          </p:cNvSpPr>
          <p:nvPr/>
        </p:nvSpPr>
        <p:spPr>
          <a:xfrm>
            <a:off x="8515350" y="2133600"/>
            <a:ext cx="2828925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B"/>
                </a:solidFill>
                <a:latin typeface="Arial"/>
                <a:ea typeface="Arial"/>
                <a:cs typeface="Arial"/>
              </a:rPr>
              <a:t>On one fixed PlantVillage split, how does a compact CNN compare with established pretrained CNNs?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E3A65F-8E23-4DCC-B868-3B7D770314DC}"/>
              </a:ext>
            </a:extLst>
          </p:cNvPr>
          <p:cNvSpPr>
            <a:spLocks noGrp="1"/>
          </p:cNvSpPr>
          <p:nvPr/>
        </p:nvSpPr>
        <p:spPr>
          <a:xfrm>
            <a:off x="609600" y="40386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2B"/>
                </a:solidFill>
                <a:latin typeface="Arial"/>
                <a:ea typeface="Arial"/>
                <a:cs typeface="Arial"/>
              </a:rPr>
              <a:t>Why this design is useful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D954393-B4E0-424C-BFDC-877706255F5D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342900" cy="342900"/>
          </a:xfrm>
          <a:prstGeom prst="ellipse">
            <a:avLst/>
          </a:prstGeom>
          <a:solidFill>
            <a:srgbClr val="236B4E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EE41F5-3F96-40A8-81CC-1CA4822C6B4F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656F25-9735-45D0-AC17-7A4EB9F22F24}"/>
              </a:ext>
            </a:extLst>
          </p:cNvPr>
          <p:cNvSpPr>
            <a:spLocks noGrp="1"/>
          </p:cNvSpPr>
          <p:nvPr/>
        </p:nvSpPr>
        <p:spPr>
          <a:xfrm>
            <a:off x="1085850" y="4552950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12B"/>
                </a:solidFill>
                <a:latin typeface="Arial"/>
                <a:ea typeface="Arial"/>
                <a:cs typeface="Arial"/>
              </a:rPr>
              <a:t>Same data split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CA128B-7406-418D-B62C-0D8D5F4B8C17}"/>
              </a:ext>
            </a:extLst>
          </p:cNvPr>
          <p:cNvSpPr>
            <a:spLocks noGrp="1"/>
          </p:cNvSpPr>
          <p:nvPr/>
        </p:nvSpPr>
        <p:spPr>
          <a:xfrm>
            <a:off x="1085850" y="48577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1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Keeps architecture comparisons fair.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0739014-4FB3-42BB-A1AD-4EFD69C8C178}"/>
              </a:ext>
            </a:extLst>
          </p:cNvPr>
          <p:cNvSpPr>
            <a:spLocks noGrp="1"/>
          </p:cNvSpPr>
          <p:nvPr/>
        </p:nvSpPr>
        <p:spPr>
          <a:xfrm>
            <a:off x="4324350" y="4610100"/>
            <a:ext cx="342900" cy="342900"/>
          </a:xfrm>
          <a:prstGeom prst="ellipse">
            <a:avLst/>
          </a:prstGeom>
          <a:solidFill>
            <a:srgbClr val="236B4E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BD43A7-30FA-40DA-9D37-A31D29C0A142}"/>
              </a:ext>
            </a:extLst>
          </p:cNvPr>
          <p:cNvSpPr>
            <a:spLocks noGrp="1"/>
          </p:cNvSpPr>
          <p:nvPr/>
        </p:nvSpPr>
        <p:spPr>
          <a:xfrm>
            <a:off x="4324350" y="46101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ED033CC-C60D-4352-BEE5-56925256ADDF}"/>
              </a:ext>
            </a:extLst>
          </p:cNvPr>
          <p:cNvSpPr>
            <a:spLocks noGrp="1"/>
          </p:cNvSpPr>
          <p:nvPr/>
        </p:nvSpPr>
        <p:spPr>
          <a:xfrm>
            <a:off x="4800600" y="4552950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12B"/>
                </a:solidFill>
                <a:latin typeface="Arial"/>
                <a:ea typeface="Arial"/>
                <a:cs typeface="Arial"/>
              </a:rPr>
              <a:t>Macro metrics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F522AB-04E1-4B6D-B089-06DDAB618EBD}"/>
              </a:ext>
            </a:extLst>
          </p:cNvPr>
          <p:cNvSpPr>
            <a:spLocks noGrp="1"/>
          </p:cNvSpPr>
          <p:nvPr/>
        </p:nvSpPr>
        <p:spPr>
          <a:xfrm>
            <a:off x="4800600" y="48577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1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Gives every class equal weight in the summary.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1CD9214-8081-4703-AE0B-F58B9EA66003}"/>
              </a:ext>
            </a:extLst>
          </p:cNvPr>
          <p:cNvSpPr>
            <a:spLocks noGrp="1"/>
          </p:cNvSpPr>
          <p:nvPr/>
        </p:nvSpPr>
        <p:spPr>
          <a:xfrm>
            <a:off x="8039100" y="4610100"/>
            <a:ext cx="342900" cy="342900"/>
          </a:xfrm>
          <a:prstGeom prst="ellipse">
            <a:avLst/>
          </a:prstGeom>
          <a:solidFill>
            <a:srgbClr val="236B4E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1A316C-246A-41BC-B62E-CC595D0FEB11}"/>
              </a:ext>
            </a:extLst>
          </p:cNvPr>
          <p:cNvSpPr>
            <a:spLocks noGrp="1"/>
          </p:cNvSpPr>
          <p:nvPr/>
        </p:nvSpPr>
        <p:spPr>
          <a:xfrm>
            <a:off x="8039100" y="461010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8365B9-EBC3-438A-AB7A-93C6F62E27F3}"/>
              </a:ext>
            </a:extLst>
          </p:cNvPr>
          <p:cNvSpPr>
            <a:spLocks noGrp="1"/>
          </p:cNvSpPr>
          <p:nvPr/>
        </p:nvSpPr>
        <p:spPr>
          <a:xfrm>
            <a:off x="8515350" y="4552950"/>
            <a:ext cx="2857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12B"/>
                </a:solidFill>
                <a:latin typeface="Arial"/>
                <a:ea typeface="Arial"/>
                <a:cs typeface="Arial"/>
              </a:rPr>
              <a:t>Held-out test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7A7A09-029E-4BD5-A60E-97F2A373601B}"/>
              </a:ext>
            </a:extLst>
          </p:cNvPr>
          <p:cNvSpPr>
            <a:spLocks noGrp="1"/>
          </p:cNvSpPr>
          <p:nvPr/>
        </p:nvSpPr>
        <p:spPr>
          <a:xfrm>
            <a:off x="8515350" y="48577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1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Measures final performance after checkpoint selection.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BF948B1-E5DE-4BB3-88FA-1A7BFA6EE693}"/>
              </a:ext>
            </a:extLst>
          </p:cNvPr>
          <p:cNvSpPr>
            <a:spLocks noGrp="1"/>
          </p:cNvSpPr>
          <p:nvPr/>
        </p:nvSpPr>
        <p:spPr>
          <a:xfrm>
            <a:off x="609600" y="5848350"/>
            <a:ext cx="1095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7381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0">
                <a:solidFill>
                  <a:srgbClr val="7381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17B"/>
                </a:solidFill>
                <a:latin typeface="Arial"/>
                <a:ea typeface="Arial"/>
                <a:cs typeface="Arial"/>
              </a:rPr>
              <a:t>Published 99.35% is context, not a head-to-head benchmark: dataset split and training protocol differ.  ·  Mohanty et al., Front. Plant Sci. (2016), DOI: 10.3389/fpls.2016.01419</a:t>
            </a:r>
          </a:p>
        </p:txBody>
      </p:sp>
    </p:spTree>
    <p:extLst>
      <p:ext uri="{BB962C8B-B14F-4D97-AF65-F5344CB8AC3E}">
        <p14:creationId xmlns:p14="http://schemas.microsoft.com/office/powerpoint/2010/main" val="259135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9131E745-6E18-4087-B6B9-35283B8271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36B4E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E3005B-4089-4852-8B8B-99BD060EE4C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7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DATA AND BASELINE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889931-9D5D-4007-9BE3-E07D39D4F8F0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475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75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312B"/>
                </a:solidFill>
                <a:latin typeface="Arial"/>
                <a:ea typeface="Arial"/>
                <a:cs typeface="Arial"/>
              </a:rPr>
              <a:t>Dataset and the SmallCNN baseline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77BD9923-EC9F-42C7-917A-62A0184B910A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72800" cy="0"/>
          </a:xfrm>
          <a:prstGeom prst="line">
            <a:avLst/>
          </a:prstGeom>
          <a:noFill/>
          <a:ln w="9525">
            <a:solidFill>
              <a:srgbClr val="D7E0D9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01B6B2-626E-4D11-BB90-5C0C99116E3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825" b="1">
                <a:solidFill>
                  <a:srgbClr val="7381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25" b="1">
                <a:solidFill>
                  <a:srgbClr val="73817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3817B"/>
                </a:solidFill>
                <a:latin typeface="Arial"/>
                <a:ea typeface="Arial"/>
                <a:cs typeface="Arial"/>
              </a:rPr>
              <a:t>PLANT LEAF DISEASE DETECTION  ·  PHASE II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2D48D3-AE4E-4DE6-9B29-30DE305893C7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00" b="1">
                <a:solidFill>
                  <a:srgbClr val="73817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1">
                <a:solidFill>
                  <a:srgbClr val="7381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81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CEF0CA0-3D90-4506-AC88-9F88B71D8312}"/>
              </a:ext>
            </a:extLst>
          </p:cNvPr>
          <p:cNvSpPr>
            <a:spLocks noGrp="1"/>
          </p:cNvSpPr>
          <p:nvPr/>
        </p:nvSpPr>
        <p:spPr>
          <a:xfrm>
            <a:off x="609600" y="1628775"/>
            <a:ext cx="200025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7E0D9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B73462-476C-4DD3-8757-6AA17D2FDE47}"/>
              </a:ext>
            </a:extLst>
          </p:cNvPr>
          <p:cNvSpPr>
            <a:spLocks noGrp="1"/>
          </p:cNvSpPr>
          <p:nvPr/>
        </p:nvSpPr>
        <p:spPr>
          <a:xfrm>
            <a:off x="752475" y="1743075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81B5C2-A28E-43FC-8410-0D0104BD0004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1771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disease / healthy classes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6162AE9-F1F7-42BB-B497-14DBF4C5599F}"/>
              </a:ext>
            </a:extLst>
          </p:cNvPr>
          <p:cNvSpPr>
            <a:spLocks noGrp="1"/>
          </p:cNvSpPr>
          <p:nvPr/>
        </p:nvSpPr>
        <p:spPr>
          <a:xfrm>
            <a:off x="2800350" y="1628775"/>
            <a:ext cx="200025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7E0D9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8A95E3-6EBD-4C6A-99E5-0AF25CA0904C}"/>
              </a:ext>
            </a:extLst>
          </p:cNvPr>
          <p:cNvSpPr>
            <a:spLocks noGrp="1"/>
          </p:cNvSpPr>
          <p:nvPr/>
        </p:nvSpPr>
        <p:spPr>
          <a:xfrm>
            <a:off x="2943225" y="1743075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5E4202-D26A-4E81-A86B-31536A83BEFF}"/>
              </a:ext>
            </a:extLst>
          </p:cNvPr>
          <p:cNvSpPr>
            <a:spLocks noGrp="1"/>
          </p:cNvSpPr>
          <p:nvPr/>
        </p:nvSpPr>
        <p:spPr>
          <a:xfrm>
            <a:off x="2914650" y="2133600"/>
            <a:ext cx="1771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crop types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8880BF8-F02E-415A-80AF-720C68D3DA7C}"/>
              </a:ext>
            </a:extLst>
          </p:cNvPr>
          <p:cNvSpPr>
            <a:spLocks noGrp="1"/>
          </p:cNvSpPr>
          <p:nvPr/>
        </p:nvSpPr>
        <p:spPr>
          <a:xfrm>
            <a:off x="4991100" y="1628775"/>
            <a:ext cx="200025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7E0D9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A6CF15-8AE2-4624-BEF9-D45664229CF2}"/>
              </a:ext>
            </a:extLst>
          </p:cNvPr>
          <p:cNvSpPr>
            <a:spLocks noGrp="1"/>
          </p:cNvSpPr>
          <p:nvPr/>
        </p:nvSpPr>
        <p:spPr>
          <a:xfrm>
            <a:off x="5133975" y="1743075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36,762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422223-7B27-4845-B77D-1818CA278B19}"/>
              </a:ext>
            </a:extLst>
          </p:cNvPr>
          <p:cNvSpPr>
            <a:spLocks noGrp="1"/>
          </p:cNvSpPr>
          <p:nvPr/>
        </p:nvSpPr>
        <p:spPr>
          <a:xfrm>
            <a:off x="5105400" y="2133600"/>
            <a:ext cx="1771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train images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9163D07-5CD7-46A2-B31B-E1C27B2591A9}"/>
              </a:ext>
            </a:extLst>
          </p:cNvPr>
          <p:cNvSpPr>
            <a:spLocks noGrp="1"/>
          </p:cNvSpPr>
          <p:nvPr/>
        </p:nvSpPr>
        <p:spPr>
          <a:xfrm>
            <a:off x="7181850" y="1628775"/>
            <a:ext cx="200025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7E0D9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42EFDD-4EC9-4888-9B6A-D5A92609CF62}"/>
              </a:ext>
            </a:extLst>
          </p:cNvPr>
          <p:cNvSpPr>
            <a:spLocks noGrp="1"/>
          </p:cNvSpPr>
          <p:nvPr/>
        </p:nvSpPr>
        <p:spPr>
          <a:xfrm>
            <a:off x="7324725" y="1743075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6,544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9C3AE6-D193-48D0-B85E-F3E205C59ACA}"/>
              </a:ext>
            </a:extLst>
          </p:cNvPr>
          <p:cNvSpPr>
            <a:spLocks noGrp="1"/>
          </p:cNvSpPr>
          <p:nvPr/>
        </p:nvSpPr>
        <p:spPr>
          <a:xfrm>
            <a:off x="7296150" y="2133600"/>
            <a:ext cx="1771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validation images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C21F415-FE47-4AC7-AAB5-FB468E402C82}"/>
              </a:ext>
            </a:extLst>
          </p:cNvPr>
          <p:cNvSpPr>
            <a:spLocks noGrp="1"/>
          </p:cNvSpPr>
          <p:nvPr/>
        </p:nvSpPr>
        <p:spPr>
          <a:xfrm>
            <a:off x="9372600" y="1628775"/>
            <a:ext cx="2000250" cy="904875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7E0D9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E775CB-26E5-41D4-8F78-B5997999191C}"/>
              </a:ext>
            </a:extLst>
          </p:cNvPr>
          <p:cNvSpPr>
            <a:spLocks noGrp="1"/>
          </p:cNvSpPr>
          <p:nvPr/>
        </p:nvSpPr>
        <p:spPr>
          <a:xfrm>
            <a:off x="9515475" y="1743075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95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10,709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237E9A-7A92-45ED-BE06-B6E490CAD1DF}"/>
              </a:ext>
            </a:extLst>
          </p:cNvPr>
          <p:cNvSpPr>
            <a:spLocks noGrp="1"/>
          </p:cNvSpPr>
          <p:nvPr/>
        </p:nvSpPr>
        <p:spPr>
          <a:xfrm>
            <a:off x="9486900" y="2133600"/>
            <a:ext cx="1771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7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test images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DAA780-4DAA-4D33-AE1B-F78FB4C9660C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650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12B"/>
                </a:solidFill>
                <a:latin typeface="Arial"/>
                <a:ea typeface="Arial"/>
                <a:cs typeface="Arial"/>
              </a:rPr>
              <a:t>How the baseline makes a prediction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DA1EB32-D57D-4520-89D5-F8B10D5B3533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2381250" cy="1104900"/>
          </a:xfrm>
          <a:prstGeom prst="roundRect">
            <a:avLst>
              <a:gd name="adj" fmla="val 6897"/>
            </a:avLst>
          </a:prstGeom>
          <a:solidFill>
            <a:srgbClr val="E8F2E9"/>
          </a:solidFill>
          <a:ln w="9525">
            <a:solidFill>
              <a:srgbClr val="D7E0D9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0E75D2-EC91-49FC-9BAC-0303885DF770}"/>
              </a:ext>
            </a:extLst>
          </p:cNvPr>
          <p:cNvSpPr>
            <a:spLocks noGrp="1"/>
          </p:cNvSpPr>
          <p:nvPr/>
        </p:nvSpPr>
        <p:spPr>
          <a:xfrm>
            <a:off x="752475" y="35623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Leaf image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19009D-C1D5-49A3-BC6C-DF6611B104F8}"/>
              </a:ext>
            </a:extLst>
          </p:cNvPr>
          <p:cNvSpPr>
            <a:spLocks noGrp="1"/>
          </p:cNvSpPr>
          <p:nvPr/>
        </p:nvSpPr>
        <p:spPr>
          <a:xfrm>
            <a:off x="771525" y="3914775"/>
            <a:ext cx="2057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224 × 224 RGB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842F666D-3139-4CE3-83AA-5FC37EAA4536}"/>
              </a:ext>
            </a:extLst>
          </p:cNvPr>
          <p:cNvSpPr>
            <a:spLocks noGrp="1"/>
          </p:cNvSpPr>
          <p:nvPr/>
        </p:nvSpPr>
        <p:spPr>
          <a:xfrm>
            <a:off x="3048000" y="3790950"/>
            <a:ext cx="323850" cy="238125"/>
          </a:xfrm>
          <a:prstGeom prst="rightArrow">
            <a:avLst/>
          </a:prstGeom>
          <a:solidFill>
            <a:srgbClr val="B8D8B5"/>
          </a:solidFill>
          <a:ln w="0">
            <a:noFill/>
            <a:prstDash val="solid"/>
          </a:ln>
        </p:spPr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18713CD-94DD-4CB7-B5FF-627E4022C05C}"/>
              </a:ext>
            </a:extLst>
          </p:cNvPr>
          <p:cNvSpPr>
            <a:spLocks noGrp="1"/>
          </p:cNvSpPr>
          <p:nvPr/>
        </p:nvSpPr>
        <p:spPr>
          <a:xfrm>
            <a:off x="3429000" y="3409950"/>
            <a:ext cx="23812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7E0D9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5455D6-129D-48D8-A28C-8DFAF788687A}"/>
              </a:ext>
            </a:extLst>
          </p:cNvPr>
          <p:cNvSpPr>
            <a:spLocks noGrp="1"/>
          </p:cNvSpPr>
          <p:nvPr/>
        </p:nvSpPr>
        <p:spPr>
          <a:xfrm>
            <a:off x="3571875" y="35623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Convolution + pooling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BE5C3B-8218-4A9C-9F0D-39EACCF964F9}"/>
              </a:ext>
            </a:extLst>
          </p:cNvPr>
          <p:cNvSpPr>
            <a:spLocks noGrp="1"/>
          </p:cNvSpPr>
          <p:nvPr/>
        </p:nvSpPr>
        <p:spPr>
          <a:xfrm>
            <a:off x="3590925" y="3914775"/>
            <a:ext cx="2057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Learn patterns; reduce spatial size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CD39ACB7-A3E8-43FA-B5E3-73B1F44CF93E}"/>
              </a:ext>
            </a:extLst>
          </p:cNvPr>
          <p:cNvSpPr>
            <a:spLocks noGrp="1"/>
          </p:cNvSpPr>
          <p:nvPr/>
        </p:nvSpPr>
        <p:spPr>
          <a:xfrm>
            <a:off x="5867400" y="3790950"/>
            <a:ext cx="323850" cy="238125"/>
          </a:xfrm>
          <a:prstGeom prst="rightArrow">
            <a:avLst/>
          </a:prstGeom>
          <a:solidFill>
            <a:srgbClr val="B8D8B5"/>
          </a:solidFill>
          <a:ln w="0">
            <a:noFill/>
            <a:prstDash val="solid"/>
          </a:ln>
        </p:spPr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DF3F3C7-0CBE-4FD1-99BF-B71BD40702CC}"/>
              </a:ext>
            </a:extLst>
          </p:cNvPr>
          <p:cNvSpPr>
            <a:spLocks noGrp="1"/>
          </p:cNvSpPr>
          <p:nvPr/>
        </p:nvSpPr>
        <p:spPr>
          <a:xfrm>
            <a:off x="6248400" y="3409950"/>
            <a:ext cx="23812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7E0D9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7B177A-10FF-4943-BF4D-9ECE0DA55817}"/>
              </a:ext>
            </a:extLst>
          </p:cNvPr>
          <p:cNvSpPr>
            <a:spLocks noGrp="1"/>
          </p:cNvSpPr>
          <p:nvPr/>
        </p:nvSpPr>
        <p:spPr>
          <a:xfrm>
            <a:off x="6391275" y="35623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Classifier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DBBC95-DAAF-4688-BE78-92F5A81EA4C7}"/>
              </a:ext>
            </a:extLst>
          </p:cNvPr>
          <p:cNvSpPr>
            <a:spLocks noGrp="1"/>
          </p:cNvSpPr>
          <p:nvPr/>
        </p:nvSpPr>
        <p:spPr>
          <a:xfrm>
            <a:off x="6410325" y="3914775"/>
            <a:ext cx="2057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38 class scores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689B6114-F4AF-4F32-B99B-DE0B4F07F8A4}"/>
              </a:ext>
            </a:extLst>
          </p:cNvPr>
          <p:cNvSpPr>
            <a:spLocks noGrp="1"/>
          </p:cNvSpPr>
          <p:nvPr/>
        </p:nvSpPr>
        <p:spPr>
          <a:xfrm>
            <a:off x="8686800" y="3790950"/>
            <a:ext cx="323850" cy="238125"/>
          </a:xfrm>
          <a:prstGeom prst="rightArrow">
            <a:avLst/>
          </a:prstGeom>
          <a:solidFill>
            <a:srgbClr val="B8D8B5"/>
          </a:solidFill>
          <a:ln w="0">
            <a:noFill/>
            <a:prstDash val="solid"/>
          </a:ln>
        </p:spPr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1D6E310-14EF-4F5B-8DB3-78253B89F7E9}"/>
              </a:ext>
            </a:extLst>
          </p:cNvPr>
          <p:cNvSpPr>
            <a:spLocks noGrp="1"/>
          </p:cNvSpPr>
          <p:nvPr/>
        </p:nvSpPr>
        <p:spPr>
          <a:xfrm>
            <a:off x="9067800" y="3409950"/>
            <a:ext cx="23812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7E0D9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D843EF-843F-4025-ABCA-EAAB29B091FE}"/>
              </a:ext>
            </a:extLst>
          </p:cNvPr>
          <p:cNvSpPr>
            <a:spLocks noGrp="1"/>
          </p:cNvSpPr>
          <p:nvPr/>
        </p:nvSpPr>
        <p:spPr>
          <a:xfrm>
            <a:off x="9210675" y="35623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9CC2366-C540-48CC-AE9B-E349151463AF}"/>
              </a:ext>
            </a:extLst>
          </p:cNvPr>
          <p:cNvSpPr>
            <a:spLocks noGrp="1"/>
          </p:cNvSpPr>
          <p:nvPr/>
        </p:nvSpPr>
        <p:spPr>
          <a:xfrm>
            <a:off x="9229725" y="3914775"/>
            <a:ext cx="2057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0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Highest-scoring class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D601FF2-18A8-48CF-854C-E2450AEF0E5E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51435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7E0D9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78EDF41-1DAA-4A13-9D22-11420794D6FC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66675" cy="1104900"/>
          </a:xfrm>
          <a:prstGeom prst="rect">
            <a:avLst/>
          </a:prstGeom>
          <a:solidFill>
            <a:srgbClr val="4A7790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E14CB1B-C7A9-47DA-8C20-4BA974373572}"/>
              </a:ext>
            </a:extLst>
          </p:cNvPr>
          <p:cNvSpPr>
            <a:spLocks noGrp="1"/>
          </p:cNvSpPr>
          <p:nvPr/>
        </p:nvSpPr>
        <p:spPr>
          <a:xfrm>
            <a:off x="838200" y="5000625"/>
            <a:ext cx="4686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425" b="1">
                <a:solidFill>
                  <a:srgbClr val="4A779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4A779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A7790"/>
                </a:solidFill>
                <a:latin typeface="Arial"/>
                <a:ea typeface="Arial"/>
                <a:cs typeface="Arial"/>
              </a:rPr>
              <a:t>SmallCNN: the reference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35384F-10D5-478B-A96D-BEEC9D38890B}"/>
              </a:ext>
            </a:extLst>
          </p:cNvPr>
          <p:cNvSpPr>
            <a:spLocks noGrp="1"/>
          </p:cNvSpPr>
          <p:nvPr/>
        </p:nvSpPr>
        <p:spPr>
          <a:xfrm>
            <a:off x="838200" y="5343525"/>
            <a:ext cx="46863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B"/>
                </a:solidFill>
                <a:latin typeface="Arial"/>
                <a:ea typeface="Arial"/>
                <a:cs typeface="Arial"/>
              </a:rPr>
              <a:t>Trained from scratch. It provides a compact baseline for judging whether transfer learning adds value.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4F64D5E-ABE9-4638-8435-D85948C40C27}"/>
              </a:ext>
            </a:extLst>
          </p:cNvPr>
          <p:cNvSpPr>
            <a:spLocks noGrp="1"/>
          </p:cNvSpPr>
          <p:nvPr/>
        </p:nvSpPr>
        <p:spPr>
          <a:xfrm>
            <a:off x="6115050" y="4857750"/>
            <a:ext cx="54673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7E0D9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7DA7ADE-7701-417C-AAF4-1F448B938932}"/>
              </a:ext>
            </a:extLst>
          </p:cNvPr>
          <p:cNvSpPr>
            <a:spLocks noGrp="1"/>
          </p:cNvSpPr>
          <p:nvPr/>
        </p:nvSpPr>
        <p:spPr>
          <a:xfrm>
            <a:off x="6115050" y="4857750"/>
            <a:ext cx="66675" cy="1104900"/>
          </a:xfrm>
          <a:prstGeom prst="rect">
            <a:avLst/>
          </a:prstGeom>
          <a:solidFill>
            <a:srgbClr val="D58C36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243153D-AF72-4044-B40D-E9F866ECBEB6}"/>
              </a:ext>
            </a:extLst>
          </p:cNvPr>
          <p:cNvSpPr>
            <a:spLocks noGrp="1"/>
          </p:cNvSpPr>
          <p:nvPr/>
        </p:nvSpPr>
        <p:spPr>
          <a:xfrm>
            <a:off x="6343650" y="5000625"/>
            <a:ext cx="5010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425" b="1">
                <a:solidFill>
                  <a:srgbClr val="D58C3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D58C3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58C36"/>
                </a:solidFill>
                <a:latin typeface="Arial"/>
                <a:ea typeface="Arial"/>
                <a:cs typeface="Arial"/>
              </a:rPr>
              <a:t>Dataset boundary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FCD95A5-CEC3-4C2E-850F-ED9A1E52A9EA}"/>
              </a:ext>
            </a:extLst>
          </p:cNvPr>
          <p:cNvSpPr>
            <a:spLocks noGrp="1"/>
          </p:cNvSpPr>
          <p:nvPr/>
        </p:nvSpPr>
        <p:spPr>
          <a:xfrm>
            <a:off x="6343650" y="5343525"/>
            <a:ext cx="5010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B"/>
                </a:solidFill>
                <a:latin typeface="Arial"/>
                <a:ea typeface="Arial"/>
                <a:cs typeface="Arial"/>
              </a:rPr>
              <a:t>Train, validation and test are separate frozen PlantVillage splits. The test set is reserved for final scoring.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56ED4DC-93F5-4179-A1BA-D123D6EE9876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1095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7381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0">
                <a:solidFill>
                  <a:srgbClr val="7381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17B"/>
                </a:solidFill>
                <a:latin typeface="Arial"/>
                <a:ea typeface="Arial"/>
                <a:cs typeface="Arial"/>
              </a:rPr>
              <a:t>Source: frozen PlantVillage manifests and project dataset inventory.</a:t>
            </a:r>
          </a:p>
        </p:txBody>
      </p:sp>
    </p:spTree>
    <p:extLst>
      <p:ext uri="{BB962C8B-B14F-4D97-AF65-F5344CB8AC3E}">
        <p14:creationId xmlns:p14="http://schemas.microsoft.com/office/powerpoint/2010/main" val="1841509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3167375F-60B8-4CF3-A23E-1E9D19A64D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36B4E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C73C87-3DF2-4E33-9803-E88665A5438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7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TRAINING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604A18-E337-4738-9BDE-897FBD3C02F3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475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75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312B"/>
                </a:solidFill>
                <a:latin typeface="Arial"/>
                <a:ea typeface="Arial"/>
                <a:cs typeface="Arial"/>
              </a:rPr>
              <a:t>Three architectures, one comparison setup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836B285-943C-4032-B310-9B883EE8EF2F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72800" cy="0"/>
          </a:xfrm>
          <a:prstGeom prst="line">
            <a:avLst/>
          </a:prstGeom>
          <a:noFill/>
          <a:ln w="9525">
            <a:solidFill>
              <a:srgbClr val="D7E0D9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439A0B-59CA-4C71-A942-BB1EE1CEB7F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825" b="1">
                <a:solidFill>
                  <a:srgbClr val="7381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25" b="1">
                <a:solidFill>
                  <a:srgbClr val="73817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3817B"/>
                </a:solidFill>
                <a:latin typeface="Arial"/>
                <a:ea typeface="Arial"/>
                <a:cs typeface="Arial"/>
              </a:rPr>
              <a:t>PLANT LEAF DISEASE DETECTION  ·  PHASE II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7DD2EC-E0A3-46E4-A21B-A9DCFEDE750E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00" b="1">
                <a:solidFill>
                  <a:srgbClr val="73817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1">
                <a:solidFill>
                  <a:srgbClr val="7381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817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8C9C407-D8A6-42CB-BE18-A3E660AD5D94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728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7E0D9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C61126-4E65-4469-809F-ED08475CB3C0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76200" cy="1000125"/>
          </a:xfrm>
          <a:prstGeom prst="rect">
            <a:avLst/>
          </a:prstGeom>
          <a:solidFill>
            <a:srgbClr val="4A7790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F8BBC4-3483-44B1-9FD3-1AE2179EC2A8}"/>
              </a:ext>
            </a:extLst>
          </p:cNvPr>
          <p:cNvSpPr>
            <a:spLocks noGrp="1"/>
          </p:cNvSpPr>
          <p:nvPr/>
        </p:nvSpPr>
        <p:spPr>
          <a:xfrm>
            <a:off x="866775" y="1790700"/>
            <a:ext cx="2047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12B"/>
                </a:solidFill>
                <a:latin typeface="Arial"/>
                <a:ea typeface="Arial"/>
                <a:cs typeface="Arial"/>
              </a:rPr>
              <a:t>SmallCNN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D7C8E3-3979-48DD-8ED0-F1F4E4D9C4E6}"/>
              </a:ext>
            </a:extLst>
          </p:cNvPr>
          <p:cNvSpPr>
            <a:spLocks noGrp="1"/>
          </p:cNvSpPr>
          <p:nvPr/>
        </p:nvSpPr>
        <p:spPr>
          <a:xfrm>
            <a:off x="3048000" y="17907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Scratch baseline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E249A4-3E17-4435-978F-6B42AE611F59}"/>
              </a:ext>
            </a:extLst>
          </p:cNvPr>
          <p:cNvSpPr>
            <a:spLocks noGrp="1"/>
          </p:cNvSpPr>
          <p:nvPr/>
        </p:nvSpPr>
        <p:spPr>
          <a:xfrm>
            <a:off x="5810250" y="17907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B"/>
                </a:solidFill>
                <a:latin typeface="Arial"/>
                <a:ea typeface="Arial"/>
                <a:cs typeface="Arial"/>
              </a:rPr>
              <a:t>12 epochs · 70.2 min · batch 64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60B06-019E-47BF-8170-83494EB81807}"/>
              </a:ext>
            </a:extLst>
          </p:cNvPr>
          <p:cNvSpPr>
            <a:spLocks noGrp="1"/>
          </p:cNvSpPr>
          <p:nvPr/>
        </p:nvSpPr>
        <p:spPr>
          <a:xfrm>
            <a:off x="3048000" y="2181225"/>
            <a:ext cx="5334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398,662 parameters · 1.54 MB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AF48203-D735-4763-8C38-5C6CAC9C00B8}"/>
              </a:ext>
            </a:extLst>
          </p:cNvPr>
          <p:cNvSpPr>
            <a:spLocks noGrp="1"/>
          </p:cNvSpPr>
          <p:nvPr/>
        </p:nvSpPr>
        <p:spPr>
          <a:xfrm>
            <a:off x="9239250" y="1990725"/>
            <a:ext cx="1390650" cy="323850"/>
          </a:xfrm>
          <a:prstGeom prst="roundRect">
            <a:avLst>
              <a:gd name="adj" fmla="val 23529"/>
            </a:avLst>
          </a:prstGeom>
          <a:solidFill>
            <a:srgbClr val="E8F2E9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F9D971-9EA7-47C4-A5A6-773C6A81FA92}"/>
              </a:ext>
            </a:extLst>
          </p:cNvPr>
          <p:cNvSpPr>
            <a:spLocks noGrp="1"/>
          </p:cNvSpPr>
          <p:nvPr/>
        </p:nvSpPr>
        <p:spPr>
          <a:xfrm>
            <a:off x="9334500" y="2009775"/>
            <a:ext cx="120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7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2 T4 GPUs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1B9567F-32CD-45E0-B2D7-82FE15479DD7}"/>
              </a:ext>
            </a:extLst>
          </p:cNvPr>
          <p:cNvSpPr>
            <a:spLocks noGrp="1"/>
          </p:cNvSpPr>
          <p:nvPr/>
        </p:nvSpPr>
        <p:spPr>
          <a:xfrm>
            <a:off x="609600" y="2914650"/>
            <a:ext cx="109728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7E0D9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0BDB25-6B55-488F-9032-91590D796839}"/>
              </a:ext>
            </a:extLst>
          </p:cNvPr>
          <p:cNvSpPr>
            <a:spLocks noGrp="1"/>
          </p:cNvSpPr>
          <p:nvPr/>
        </p:nvSpPr>
        <p:spPr>
          <a:xfrm>
            <a:off x="609600" y="2914650"/>
            <a:ext cx="76200" cy="1000125"/>
          </a:xfrm>
          <a:prstGeom prst="rect">
            <a:avLst/>
          </a:prstGeom>
          <a:solidFill>
            <a:srgbClr val="D58C36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B7892F-37F3-4E71-BE56-C89D8D87C01B}"/>
              </a:ext>
            </a:extLst>
          </p:cNvPr>
          <p:cNvSpPr>
            <a:spLocks noGrp="1"/>
          </p:cNvSpPr>
          <p:nvPr/>
        </p:nvSpPr>
        <p:spPr>
          <a:xfrm>
            <a:off x="866775" y="3038475"/>
            <a:ext cx="2047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12B"/>
                </a:solidFill>
                <a:latin typeface="Arial"/>
                <a:ea typeface="Arial"/>
                <a:cs typeface="Arial"/>
              </a:rPr>
              <a:t>ResNet18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FB1C3E-0A05-456C-ADE0-23FAD9E6FBD3}"/>
              </a:ext>
            </a:extLst>
          </p:cNvPr>
          <p:cNvSpPr>
            <a:spLocks noGrp="1"/>
          </p:cNvSpPr>
          <p:nvPr/>
        </p:nvSpPr>
        <p:spPr>
          <a:xfrm>
            <a:off x="3048000" y="3038475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ImageNet → fine-tune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B0BBB8-1D4D-4619-A4CD-A55D2689E685}"/>
              </a:ext>
            </a:extLst>
          </p:cNvPr>
          <p:cNvSpPr>
            <a:spLocks noGrp="1"/>
          </p:cNvSpPr>
          <p:nvPr/>
        </p:nvSpPr>
        <p:spPr>
          <a:xfrm>
            <a:off x="5810250" y="303847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B"/>
                </a:solidFill>
                <a:latin typeface="Arial"/>
                <a:ea typeface="Arial"/>
                <a:cs typeface="Arial"/>
              </a:rPr>
              <a:t>Best epoch 8 · 9.45 min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22C43D-5569-4A38-BAE1-081010D6CE8A}"/>
              </a:ext>
            </a:extLst>
          </p:cNvPr>
          <p:cNvSpPr>
            <a:spLocks noGrp="1"/>
          </p:cNvSpPr>
          <p:nvPr/>
        </p:nvSpPr>
        <p:spPr>
          <a:xfrm>
            <a:off x="3048000" y="3429000"/>
            <a:ext cx="5334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11.20M parameters · 42.79 MB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363EF14-1DB0-4EE5-A233-EE7BD84DB838}"/>
              </a:ext>
            </a:extLst>
          </p:cNvPr>
          <p:cNvSpPr>
            <a:spLocks noGrp="1"/>
          </p:cNvSpPr>
          <p:nvPr/>
        </p:nvSpPr>
        <p:spPr>
          <a:xfrm>
            <a:off x="9239250" y="3238500"/>
            <a:ext cx="1390650" cy="323850"/>
          </a:xfrm>
          <a:prstGeom prst="roundRect">
            <a:avLst>
              <a:gd name="adj" fmla="val 23529"/>
            </a:avLst>
          </a:prstGeom>
          <a:solidFill>
            <a:srgbClr val="E8F2E9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77FC41-C19A-4231-B52D-3BCE5BC13E29}"/>
              </a:ext>
            </a:extLst>
          </p:cNvPr>
          <p:cNvSpPr>
            <a:spLocks noGrp="1"/>
          </p:cNvSpPr>
          <p:nvPr/>
        </p:nvSpPr>
        <p:spPr>
          <a:xfrm>
            <a:off x="9334500" y="3257550"/>
            <a:ext cx="120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7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2 T4 GPUs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FFE60DC-E696-4C90-BD71-74ED6C85AEEA}"/>
              </a:ext>
            </a:extLst>
          </p:cNvPr>
          <p:cNvSpPr>
            <a:spLocks noGrp="1"/>
          </p:cNvSpPr>
          <p:nvPr/>
        </p:nvSpPr>
        <p:spPr>
          <a:xfrm>
            <a:off x="609600" y="4162425"/>
            <a:ext cx="1097280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7E0D9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3655F4-6AD6-4D88-BE99-4F5FC4FE8F31}"/>
              </a:ext>
            </a:extLst>
          </p:cNvPr>
          <p:cNvSpPr>
            <a:spLocks noGrp="1"/>
          </p:cNvSpPr>
          <p:nvPr/>
        </p:nvSpPr>
        <p:spPr>
          <a:xfrm>
            <a:off x="609600" y="4162425"/>
            <a:ext cx="76200" cy="1000125"/>
          </a:xfrm>
          <a:prstGeom prst="rect">
            <a:avLst/>
          </a:prstGeom>
          <a:solidFill>
            <a:srgbClr val="236B4E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160D4D-6EF9-401F-A36A-15D781CDAE64}"/>
              </a:ext>
            </a:extLst>
          </p:cNvPr>
          <p:cNvSpPr>
            <a:spLocks noGrp="1"/>
          </p:cNvSpPr>
          <p:nvPr/>
        </p:nvSpPr>
        <p:spPr>
          <a:xfrm>
            <a:off x="866775" y="4286250"/>
            <a:ext cx="2047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575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12B"/>
                </a:solidFill>
                <a:latin typeface="Arial"/>
                <a:ea typeface="Arial"/>
                <a:cs typeface="Arial"/>
              </a:rPr>
              <a:t>EfficientNet-B0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09CC36-7100-4983-8CDF-DDABFEC15BDE}"/>
              </a:ext>
            </a:extLst>
          </p:cNvPr>
          <p:cNvSpPr>
            <a:spLocks noGrp="1"/>
          </p:cNvSpPr>
          <p:nvPr/>
        </p:nvSpPr>
        <p:spPr>
          <a:xfrm>
            <a:off x="3048000" y="42862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ImageNet → fine-tune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AB7685-4BFC-4E3B-9A69-A04BA3F4D33B}"/>
              </a:ext>
            </a:extLst>
          </p:cNvPr>
          <p:cNvSpPr>
            <a:spLocks noGrp="1"/>
          </p:cNvSpPr>
          <p:nvPr/>
        </p:nvSpPr>
        <p:spPr>
          <a:xfrm>
            <a:off x="5810250" y="42862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B"/>
                </a:solidFill>
                <a:latin typeface="Arial"/>
                <a:ea typeface="Arial"/>
                <a:cs typeface="Arial"/>
              </a:rPr>
              <a:t>12 epochs · 104.08 min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468800-A7F0-4A31-A55E-78929B1138B2}"/>
              </a:ext>
            </a:extLst>
          </p:cNvPr>
          <p:cNvSpPr>
            <a:spLocks noGrp="1"/>
          </p:cNvSpPr>
          <p:nvPr/>
        </p:nvSpPr>
        <p:spPr>
          <a:xfrm>
            <a:off x="3048000" y="4676775"/>
            <a:ext cx="5334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4.06M parameters · 15.77 MB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46A61E7-27A4-4352-8665-804B64F0B43C}"/>
              </a:ext>
            </a:extLst>
          </p:cNvPr>
          <p:cNvSpPr>
            <a:spLocks noGrp="1"/>
          </p:cNvSpPr>
          <p:nvPr/>
        </p:nvSpPr>
        <p:spPr>
          <a:xfrm>
            <a:off x="9239250" y="4486275"/>
            <a:ext cx="1390650" cy="323850"/>
          </a:xfrm>
          <a:prstGeom prst="roundRect">
            <a:avLst>
              <a:gd name="adj" fmla="val 23529"/>
            </a:avLst>
          </a:prstGeom>
          <a:solidFill>
            <a:srgbClr val="E8F2E9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313DA39-7659-44E8-80A4-9DD3F2769608}"/>
              </a:ext>
            </a:extLst>
          </p:cNvPr>
          <p:cNvSpPr>
            <a:spLocks noGrp="1"/>
          </p:cNvSpPr>
          <p:nvPr/>
        </p:nvSpPr>
        <p:spPr>
          <a:xfrm>
            <a:off x="9334500" y="4505325"/>
            <a:ext cx="120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97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7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2 T4 GPUs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A584442-E396-48B7-BA74-CE32A0E424A1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10972800" cy="523875"/>
          </a:xfrm>
          <a:prstGeom prst="roundRect">
            <a:avLst>
              <a:gd name="adj" fmla="val 14545"/>
            </a:avLst>
          </a:prstGeom>
          <a:solidFill>
            <a:srgbClr val="E8F2E9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6FB195-CE9E-47CC-B53C-366314400349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Fairness controls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8C6707E-93B6-4EBC-AFA1-9B7F0A9EC3B7}"/>
              </a:ext>
            </a:extLst>
          </p:cNvPr>
          <p:cNvSpPr>
            <a:spLocks noGrp="1"/>
          </p:cNvSpPr>
          <p:nvPr/>
        </p:nvSpPr>
        <p:spPr>
          <a:xfrm>
            <a:off x="2428875" y="5657850"/>
            <a:ext cx="8915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312B"/>
                </a:solidFill>
                <a:latin typeface="Arial"/>
                <a:ea typeface="Arial"/>
                <a:cs typeface="Arial"/>
              </a:rPr>
              <a:t>Same PlantVillage train/validation split · 224 × 224 images · choose best checkpoint by validation macro-F1 · test split stays closed until selection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5A3454-C531-44A9-8D3F-71213776409D}"/>
              </a:ext>
            </a:extLst>
          </p:cNvPr>
          <p:cNvSpPr>
            <a:spLocks noGrp="1"/>
          </p:cNvSpPr>
          <p:nvPr/>
        </p:nvSpPr>
        <p:spPr>
          <a:xfrm>
            <a:off x="609600" y="6162675"/>
            <a:ext cx="1095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7381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0">
                <a:solidFill>
                  <a:srgbClr val="7381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17B"/>
                </a:solidFill>
                <a:latin typeface="Arial"/>
                <a:ea typeface="Arial"/>
                <a:cs typeface="Arial"/>
              </a:rPr>
              <a:t>EfficientNet-B0 used distributed data parallel on two T4s; global batch size 32 (16 per GPU). Runtime is from the Kaggle run and can vary.</a:t>
            </a:r>
          </a:p>
        </p:txBody>
      </p:sp>
    </p:spTree>
    <p:extLst>
      <p:ext uri="{BB962C8B-B14F-4D97-AF65-F5344CB8AC3E}">
        <p14:creationId xmlns:p14="http://schemas.microsoft.com/office/powerpoint/2010/main" val="1642767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E306C8-15DB-4EA4-9BF3-AA7D418616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36B4E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9ECADA-CD65-481F-963F-706A1169D98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7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RESULTS · VALIDATION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F6D18D-7077-41F8-9200-BC233009F858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475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75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312B"/>
                </a:solidFill>
                <a:latin typeface="Arial"/>
                <a:ea typeface="Arial"/>
                <a:cs typeface="Arial"/>
              </a:rPr>
              <a:t>Validation comparison: EfficientNet-B0 leads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29A0816-DDBD-488C-B461-01A0F0F03BC3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72800" cy="0"/>
          </a:xfrm>
          <a:prstGeom prst="line">
            <a:avLst/>
          </a:prstGeom>
          <a:noFill/>
          <a:ln w="9525">
            <a:solidFill>
              <a:srgbClr val="D7E0D9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BA8514-0BF9-4CA6-AB2D-6CF8C8C62D2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825" b="1">
                <a:solidFill>
                  <a:srgbClr val="7381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25" b="1">
                <a:solidFill>
                  <a:srgbClr val="73817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3817B"/>
                </a:solidFill>
                <a:latin typeface="Arial"/>
                <a:ea typeface="Arial"/>
                <a:cs typeface="Arial"/>
              </a:rPr>
              <a:t>PLANT LEAF DISEASE DETECTION  ·  PHASE II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ABFDD3-6355-44D4-A222-EB15E6889B3A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00" b="1">
                <a:solidFill>
                  <a:srgbClr val="73817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1">
                <a:solidFill>
                  <a:srgbClr val="7381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81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069C92-A895-4031-9EAF-1E876A6E6FB8}"/>
              </a:ext>
            </a:extLst>
          </p:cNvPr>
          <p:cNvSpPr>
            <a:spLocks noGrp="1"/>
          </p:cNvSpPr>
          <p:nvPr/>
        </p:nvSpPr>
        <p:spPr>
          <a:xfrm>
            <a:off x="609600" y="143827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Same 6,544-image validation split · higher is better · y-axis shown from 90% to 100%</a:t>
            </a:r>
          </a:p>
        </p:txBody>
      </p:sp>
      <p:graphicFrame>
        <p:nvGraphicFramePr>
          <p:cNvPr id="8" name="Chart">
            <a:extLst>
              <a:ext uri="{FF2B5EF4-FFF2-40B4-BE49-F238E27FC236}">
                <a16:creationId xmlns:a16="http://schemas.microsoft.com/office/drawing/2014/main" id="{232CB53F-1AD6-44FE-B764-A107A7BB6F13}"/>
              </a:ext>
            </a:extLst>
          </p:cNvPr>
          <p:cNvGraphicFramePr/>
          <p:nvPr/>
        </p:nvGraphicFramePr>
        <p:xfrm>
          <a:off x="904875" y="1857375"/>
          <a:ext cx="10334625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3B49243-2EA8-47C2-954F-42574216F3F5}"/>
              </a:ext>
            </a:extLst>
          </p:cNvPr>
          <p:cNvSpPr>
            <a:spLocks noGrp="1"/>
          </p:cNvSpPr>
          <p:nvPr/>
        </p:nvSpPr>
        <p:spPr>
          <a:xfrm>
            <a:off x="609600" y="5762625"/>
            <a:ext cx="10972800" cy="409575"/>
          </a:xfrm>
          <a:prstGeom prst="roundRect">
            <a:avLst>
              <a:gd name="adj" fmla="val 18605"/>
            </a:avLst>
          </a:prstGeom>
          <a:solidFill>
            <a:srgbClr val="E8F2E9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FD5CED-5606-4E5F-A777-04237EDE0E09}"/>
              </a:ext>
            </a:extLst>
          </p:cNvPr>
          <p:cNvSpPr>
            <a:spLocks noGrp="1"/>
          </p:cNvSpPr>
          <p:nvPr/>
        </p:nvSpPr>
        <p:spPr>
          <a:xfrm>
            <a:off x="800100" y="5810250"/>
            <a:ext cx="105251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12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Checkpoint selection: validation macro-F1. EfficientNet-B0 had the highest validation macro-F1 (99.37%).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7214C3-F9CF-458F-B576-97542E8D53D9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1095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825" b="0">
                <a:solidFill>
                  <a:srgbClr val="7381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25" b="0">
                <a:solidFill>
                  <a:srgbClr val="73817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3817B"/>
                </a:solidFill>
                <a:latin typeface="Arial"/>
                <a:ea typeface="Arial"/>
                <a:cs typeface="Arial"/>
              </a:rPr>
              <a:t>Source: saved architecture-comparison validation metrics; values shown as percentages.</a:t>
            </a:r>
          </a:p>
        </p:txBody>
      </p:sp>
    </p:spTree>
    <p:extLst>
      <p:ext uri="{BB962C8B-B14F-4D97-AF65-F5344CB8AC3E}">
        <p14:creationId xmlns:p14="http://schemas.microsoft.com/office/powerpoint/2010/main" val="1180718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B8B928E-A1DB-4537-9F00-F4DD35B885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236B4E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B70B4D-0D95-46E8-8F92-67BA672DEFE7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7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FINAL PLANTVILLAGE TEST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9C305B-1E5F-4227-A205-1537C7CADB18}"/>
              </a:ext>
            </a:extLst>
          </p:cNvPr>
          <p:cNvSpPr>
            <a:spLocks noGrp="1"/>
          </p:cNvSpPr>
          <p:nvPr/>
        </p:nvSpPr>
        <p:spPr>
          <a:xfrm>
            <a:off x="609600" y="657225"/>
            <a:ext cx="10972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2475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475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312B"/>
                </a:solidFill>
                <a:latin typeface="Arial"/>
                <a:ea typeface="Arial"/>
                <a:cs typeface="Arial"/>
              </a:rPr>
              <a:t>Held-out test result and what it means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3EC5BAE-1F9A-4116-A207-857BFBB1FFCF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10972800" cy="0"/>
          </a:xfrm>
          <a:prstGeom prst="line">
            <a:avLst/>
          </a:prstGeom>
          <a:noFill/>
          <a:ln w="9525">
            <a:solidFill>
              <a:srgbClr val="D7E0D9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138CF7-EB74-4CC2-9386-93A25BBC3E39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57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825" b="1">
                <a:solidFill>
                  <a:srgbClr val="7381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25" b="1">
                <a:solidFill>
                  <a:srgbClr val="73817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3817B"/>
                </a:solidFill>
                <a:latin typeface="Arial"/>
                <a:ea typeface="Arial"/>
                <a:cs typeface="Arial"/>
              </a:rPr>
              <a:t>PLANT LEAF DISEASE DETECTION  ·  PHASE II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CFC698-241D-437B-9442-F3E374CFEE21}"/>
              </a:ext>
            </a:extLst>
          </p:cNvPr>
          <p:cNvSpPr>
            <a:spLocks noGrp="1"/>
          </p:cNvSpPr>
          <p:nvPr/>
        </p:nvSpPr>
        <p:spPr>
          <a:xfrm>
            <a:off x="11144250" y="645795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r">
              <a:defRPr sz="900" b="1">
                <a:solidFill>
                  <a:srgbClr val="73817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1">
                <a:solidFill>
                  <a:srgbClr val="73817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817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BD6EF9-8D35-45A0-B1D1-875E21CFB051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5143500" cy="1971675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D7E0D9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4906A0-3DC0-447B-B6ED-96CC84E450FA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66675" cy="1971675"/>
          </a:xfrm>
          <a:prstGeom prst="rect">
            <a:avLst/>
          </a:prstGeom>
          <a:solidFill>
            <a:srgbClr val="4A7790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200BAD-9D51-4503-ADDA-B45EDFF618C3}"/>
              </a:ext>
            </a:extLst>
          </p:cNvPr>
          <p:cNvSpPr>
            <a:spLocks noGrp="1"/>
          </p:cNvSpPr>
          <p:nvPr/>
        </p:nvSpPr>
        <p:spPr>
          <a:xfrm>
            <a:off x="838200" y="1762125"/>
            <a:ext cx="4686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425" b="1">
                <a:solidFill>
                  <a:srgbClr val="4A779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4A779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A7790"/>
                </a:solidFill>
                <a:latin typeface="Arial"/>
                <a:ea typeface="Arial"/>
                <a:cs typeface="Arial"/>
              </a:rPr>
              <a:t>SmallCNN · baseline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CDB091-55BE-4223-93EC-A3ED080D1C58}"/>
              </a:ext>
            </a:extLst>
          </p:cNvPr>
          <p:cNvSpPr>
            <a:spLocks noGrp="1"/>
          </p:cNvSpPr>
          <p:nvPr/>
        </p:nvSpPr>
        <p:spPr>
          <a:xfrm>
            <a:off x="838200" y="2105025"/>
            <a:ext cx="46863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B"/>
                </a:solidFill>
                <a:latin typeface="Arial"/>
                <a:ea typeface="Arial"/>
                <a:cs typeface="Arial"/>
              </a:rPr>
              <a:t>Accuracy 96.95%</a:t>
            </a:r>
          </a:p>
          <a:p>
            <a: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B"/>
                </a:solidFill>
                <a:latin typeface="Arial"/>
                <a:ea typeface="Arial"/>
                <a:cs typeface="Arial"/>
              </a:rPr>
              <a:t>Macro precision 96.30%</a:t>
            </a:r>
          </a:p>
          <a:p>
            <a: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B"/>
                </a:solidFill>
                <a:latin typeface="Arial"/>
                <a:ea typeface="Arial"/>
                <a:cs typeface="Arial"/>
              </a:rPr>
              <a:t>Macro recall 96.02%</a:t>
            </a:r>
          </a:p>
          <a:p>
            <a: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B"/>
                </a:solidFill>
                <a:latin typeface="Arial"/>
                <a:ea typeface="Arial"/>
                <a:cs typeface="Arial"/>
              </a:rPr>
              <a:t>Macro-F1 96.07%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0FC3E7E-1ACF-4FE3-8ADE-1A47DCD2F190}"/>
              </a:ext>
            </a:extLst>
          </p:cNvPr>
          <p:cNvSpPr>
            <a:spLocks noGrp="1"/>
          </p:cNvSpPr>
          <p:nvPr/>
        </p:nvSpPr>
        <p:spPr>
          <a:xfrm>
            <a:off x="6438900" y="1619250"/>
            <a:ext cx="5143500" cy="1971675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9525">
            <a:solidFill>
              <a:srgbClr val="D7E0D9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43BBBC-F5FB-4FA8-8598-BAE6BDC7D560}"/>
              </a:ext>
            </a:extLst>
          </p:cNvPr>
          <p:cNvSpPr>
            <a:spLocks noGrp="1"/>
          </p:cNvSpPr>
          <p:nvPr/>
        </p:nvSpPr>
        <p:spPr>
          <a:xfrm>
            <a:off x="6438900" y="1619250"/>
            <a:ext cx="66675" cy="1971675"/>
          </a:xfrm>
          <a:prstGeom prst="rect">
            <a:avLst/>
          </a:prstGeom>
          <a:solidFill>
            <a:srgbClr val="236B4E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2B5553-580C-4129-9B41-D9AA2AB8BBCB}"/>
              </a:ext>
            </a:extLst>
          </p:cNvPr>
          <p:cNvSpPr>
            <a:spLocks noGrp="1"/>
          </p:cNvSpPr>
          <p:nvPr/>
        </p:nvSpPr>
        <p:spPr>
          <a:xfrm>
            <a:off x="6667500" y="1762125"/>
            <a:ext cx="4686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42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EfficientNet-B0 · selected model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4E7DA6-EAAD-4FBE-9796-3138325E088C}"/>
              </a:ext>
            </a:extLst>
          </p:cNvPr>
          <p:cNvSpPr>
            <a:spLocks noGrp="1"/>
          </p:cNvSpPr>
          <p:nvPr/>
        </p:nvSpPr>
        <p:spPr>
          <a:xfrm>
            <a:off x="6667500" y="2105025"/>
            <a:ext cx="46863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B"/>
                </a:solidFill>
                <a:latin typeface="Arial"/>
                <a:ea typeface="Arial"/>
                <a:cs typeface="Arial"/>
              </a:rPr>
              <a:t>Accuracy 99.51%</a:t>
            </a:r>
          </a:p>
          <a:p>
            <a: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B"/>
                </a:solidFill>
                <a:latin typeface="Arial"/>
                <a:ea typeface="Arial"/>
                <a:cs typeface="Arial"/>
              </a:rPr>
              <a:t>Macro precision 99.33%</a:t>
            </a:r>
          </a:p>
          <a:p>
            <a: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B"/>
                </a:solidFill>
                <a:latin typeface="Arial"/>
                <a:ea typeface="Arial"/>
                <a:cs typeface="Arial"/>
              </a:rPr>
              <a:t>Macro recall 99.31%</a:t>
            </a:r>
          </a:p>
          <a:p>
            <a:pPr algn="l">
              <a:defRPr sz="1200" b="0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12B"/>
                </a:solidFill>
                <a:latin typeface="Arial"/>
                <a:ea typeface="Arial"/>
                <a:cs typeface="Arial"/>
              </a:rPr>
              <a:t>Macro-F1 99.31%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6F1100-F674-42AC-9605-51D3820DED48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10953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ctr">
              <a:defRPr sz="1200" b="1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45E"/>
                </a:solidFill>
                <a:latin typeface="Arial"/>
                <a:ea typeface="Arial"/>
                <a:cs typeface="Arial"/>
              </a:rPr>
              <a:t>Same locked test split · 10,709 PlantVillage images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619727D-07FD-4C2C-BA75-CAFF4A2E21A5}"/>
              </a:ext>
            </a:extLst>
          </p:cNvPr>
          <p:cNvSpPr>
            <a:spLocks noGrp="1"/>
          </p:cNvSpPr>
          <p:nvPr/>
        </p:nvSpPr>
        <p:spPr>
          <a:xfrm>
            <a:off x="609600" y="4191000"/>
            <a:ext cx="10972800" cy="695325"/>
          </a:xfrm>
          <a:prstGeom prst="roundRect">
            <a:avLst>
              <a:gd name="adj" fmla="val 10959"/>
            </a:avLst>
          </a:prstGeom>
          <a:solidFill>
            <a:srgbClr val="E8F2E9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BE02E9-DF98-4068-B3C7-F3494607BF23}"/>
              </a:ext>
            </a:extLst>
          </p:cNvPr>
          <p:cNvSpPr>
            <a:spLocks noGrp="1"/>
          </p:cNvSpPr>
          <p:nvPr/>
        </p:nvSpPr>
        <p:spPr>
          <a:xfrm>
            <a:off x="819150" y="42957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35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236B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6B4E"/>
                </a:solidFill>
                <a:latin typeface="Arial"/>
                <a:ea typeface="Arial"/>
                <a:cs typeface="Arial"/>
              </a:rPr>
              <a:t>Takeaway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5A8781-BBBB-453D-B394-2FBA380336D8}"/>
              </a:ext>
            </a:extLst>
          </p:cNvPr>
          <p:cNvSpPr>
            <a:spLocks noGrp="1"/>
          </p:cNvSpPr>
          <p:nvPr/>
        </p:nvSpPr>
        <p:spPr>
          <a:xfrm>
            <a:off x="2343150" y="4276725"/>
            <a:ext cx="8763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425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12B"/>
                </a:solidFill>
                <a:latin typeface="Arial"/>
                <a:ea typeface="Arial"/>
                <a:cs typeface="Arial"/>
              </a:rPr>
              <a:t>EfficientNet-B0 is the strongest tested choice for PlantVillage in this comparison.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298E98-1EC0-4D9B-BCD9-AB27250FFE3E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809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1425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173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12B"/>
                </a:solidFill>
                <a:latin typeface="Arial"/>
                <a:ea typeface="Arial"/>
                <a:cs typeface="Arial"/>
              </a:rPr>
              <a:t>What remains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633D52-16EA-4616-AAB5-257404621ABF}"/>
              </a:ext>
            </a:extLst>
          </p:cNvPr>
          <p:cNvSpPr>
            <a:spLocks noGrp="1"/>
          </p:cNvSpPr>
          <p:nvPr/>
        </p:nvSpPr>
        <p:spPr>
          <a:xfrm>
            <a:off x="609600" y="5553075"/>
            <a:ext cx="10972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0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53645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5E"/>
                </a:solidFill>
                <a:latin typeface="Arial"/>
                <a:ea typeface="Arial"/>
                <a:cs typeface="Arial"/>
              </a:rPr>
              <a:t>Review class-level errors · assess on a larger independent field-photo set · add Grad-CAM and confidence calibration before making a field-use claim.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6A458A-10D6-42F9-BC22-182E004CC862}"/>
              </a:ext>
            </a:extLst>
          </p:cNvPr>
          <p:cNvSpPr>
            <a:spLocks noGrp="1"/>
          </p:cNvSpPr>
          <p:nvPr/>
        </p:nvSpPr>
        <p:spPr>
          <a:xfrm>
            <a:off x="609600" y="6105525"/>
            <a:ext cx="1095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>
            <a:defPPr algn="l">
              <a:defRPr sz="900" b="0">
                <a:solidFill>
                  <a:srgbClr val="7381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00" b="0">
                <a:solidFill>
                  <a:srgbClr val="73817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17B"/>
                </a:solidFill>
                <a:latin typeface="Arial"/>
                <a:ea typeface="Arial"/>
                <a:cs typeface="Arial"/>
              </a:rPr>
              <a:t>Scope: these test scores apply to PlantVillage. They do not establish performance on field photographs. ResNet18 has no saved locked-test score in the available run files.</a:t>
            </a:r>
          </a:p>
        </p:txBody>
      </p:sp>
    </p:spTree>
    <p:extLst>
      <p:ext uri="{BB962C8B-B14F-4D97-AF65-F5344CB8AC3E}">
        <p14:creationId xmlns:p14="http://schemas.microsoft.com/office/powerpoint/2010/main" val="145252425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656</Words>
  <Application>Microsoft Office PowerPoint</Application>
  <DocSecurity>0</DocSecurity>
  <PresentationFormat>Widescreen</PresentationFormat>
  <Paragraphs>112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Shubham Kumar</cp:lastModifiedBy>
  <cp:revision>1</cp:revision>
  <dcterms:created xsi:type="dcterms:W3CDTF">2026-10-13T05:48:30Z</dcterms:created>
  <dcterms:modified xsi:type="dcterms:W3CDTF">2026-10-13T05:55:01Z</dcterms:modified>
</cp:coreProperties>
</file>